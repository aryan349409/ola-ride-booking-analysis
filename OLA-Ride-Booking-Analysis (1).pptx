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 Light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  <p:embeddedFont>
      <p:font typeface="Open Sans Medium"/>
      <p:regular r:id="rId201319"/>
    </p:embeddedFont>
    <p:embeddedFont>
      <p:font typeface="Open Sans SemiBold"/>
      <p:regular r:id="rId201320"/>
    </p:embeddedFont>
    <p:embeddedFont>
      <p:font typeface="Open Sans Extra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251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OLA Ride Booking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67519" y="168808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End-to-End Business Intelligence Project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026072"/>
            <a:ext cx="8151763" cy="1429345"/>
          </a:xfrm>
          <a:prstGeom prst="roundRect">
            <a:avLst>
              <a:gd name="adj" fmla="val 1302"/>
            </a:avLst>
          </a:prstGeom>
          <a:solidFill>
            <a:srgbClr val="EAE8F3"/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026072"/>
            <a:ext cx="4075881" cy="714673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6" name="Text 4"/>
          <p:cNvSpPr/>
          <p:nvPr/>
        </p:nvSpPr>
        <p:spPr>
          <a:xfrm>
            <a:off x="620092" y="2150046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Author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092" y="2418308"/>
            <a:ext cx="382793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Aryan Rai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2026072"/>
            <a:ext cx="4075881" cy="714673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026072"/>
            <a:ext cx="14288" cy="714673"/>
          </a:xfrm>
          <a:prstGeom prst="roundRect">
            <a:avLst>
              <a:gd name="adj" fmla="val 130228"/>
            </a:avLst>
          </a:prstGeom>
          <a:solidFill>
            <a:srgbClr val="D0CED9"/>
          </a:solidFill>
          <a:ln/>
        </p:spPr>
      </p:sp>
      <p:sp>
        <p:nvSpPr>
          <p:cNvPr id="10" name="Text 8"/>
          <p:cNvSpPr/>
          <p:nvPr/>
        </p:nvSpPr>
        <p:spPr>
          <a:xfrm>
            <a:off x="4695974" y="2150046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Program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5974" y="2418308"/>
            <a:ext cx="382793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B.Tech CSE (AI &amp; DS)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2740744"/>
            <a:ext cx="4075881" cy="714673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3" name="Shape 11"/>
          <p:cNvSpPr/>
          <p:nvPr/>
        </p:nvSpPr>
        <p:spPr>
          <a:xfrm>
            <a:off x="496119" y="2740744"/>
            <a:ext cx="4075881" cy="14288"/>
          </a:xfrm>
          <a:prstGeom prst="roundRect">
            <a:avLst>
              <a:gd name="adj" fmla="val 130228"/>
            </a:avLst>
          </a:prstGeom>
          <a:solidFill>
            <a:srgbClr val="D0CED9"/>
          </a:solidFill>
          <a:ln/>
        </p:spPr>
      </p:sp>
      <p:sp>
        <p:nvSpPr>
          <p:cNvPr id="14" name="Text 12"/>
          <p:cNvSpPr/>
          <p:nvPr/>
        </p:nvSpPr>
        <p:spPr>
          <a:xfrm>
            <a:off x="620092" y="2864718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Institution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0092" y="3132981"/>
            <a:ext cx="382793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IIMT College of Engineering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2740744"/>
            <a:ext cx="4075881" cy="714673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740744"/>
            <a:ext cx="14288" cy="714673"/>
          </a:xfrm>
          <a:prstGeom prst="roundRect">
            <a:avLst>
              <a:gd name="adj" fmla="val 130228"/>
            </a:avLst>
          </a:prstGeom>
          <a:solidFill>
            <a:srgbClr val="D0CED9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2740744"/>
            <a:ext cx="4075881" cy="14288"/>
          </a:xfrm>
          <a:prstGeom prst="roundRect">
            <a:avLst>
              <a:gd name="adj" fmla="val 130228"/>
            </a:avLst>
          </a:prstGeom>
          <a:solidFill>
            <a:srgbClr val="D0CED9"/>
          </a:solidFill>
          <a:ln/>
        </p:spPr>
      </p:sp>
      <p:sp>
        <p:nvSpPr>
          <p:cNvPr id="19" name="Text 17"/>
          <p:cNvSpPr/>
          <p:nvPr/>
        </p:nvSpPr>
        <p:spPr>
          <a:xfrm>
            <a:off x="4695974" y="2864718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Graduation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95974" y="3132981"/>
            <a:ext cx="382793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6119" y="3594943"/>
            <a:ext cx="8151763" cy="495970"/>
          </a:xfrm>
          <a:prstGeom prst="roundRect">
            <a:avLst>
              <a:gd name="adj" fmla="val 3752"/>
            </a:avLst>
          </a:prstGeom>
          <a:solidFill>
            <a:srgbClr val="D7D6F5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774728"/>
            <a:ext cx="155004" cy="12397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99071" y="3749873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deck is designed for recruiters and hiring managers. Every card is self-contained — read linearly or jump to any section.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51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at a Glance: 40,000 Rides, One BI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4708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full-cycle business intelligence engagement — from raw operational data to an interactive, multi-view Power BI dashboard — built to surface fleet, revenue, and cancellation insights for a ride-booking platform modeled on OLA's July 2024 data.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83531"/>
            <a:ext cx="4013895" cy="15122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0048" y="166754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4380" y="2093863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4380" y="2362126"/>
            <a:ext cx="37373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~40,000 ride booking records covering July 2024. Fields include booking status, vehicle type, ride distance, booking value, payment method, and customer/driver ratings.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1583531"/>
            <a:ext cx="4013895" cy="15122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47917" y="166754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772248" y="2093863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72248" y="2362126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Microsoft Excel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(data storage) →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Power Query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(ETL) →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SQL / MySQL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(analysis) →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Power BI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(interactive dashboards)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19748"/>
            <a:ext cx="4013895" cy="15122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10048" y="3303761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34380" y="3730079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4380" y="3998342"/>
            <a:ext cx="37373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 raw operational data into actionable business insights supporting fleet management, revenue optimization, and cancellation reduction.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3987" y="3219748"/>
            <a:ext cx="4013895" cy="15122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47917" y="3303761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772248" y="3730079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72248" y="3998342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5-view interactive Power BI dashboard — Overall, Vehicle Type, Revenue, Cancellation, and Ratings views.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914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Pipeline: From Raw Excel to BI-Ready Dataset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602730"/>
            <a:ext cx="3257699" cy="1458888"/>
          </a:xfrm>
          <a:prstGeom prst="roundRect">
            <a:avLst>
              <a:gd name="adj" fmla="val 1275"/>
            </a:avLst>
          </a:prstGeom>
          <a:solidFill>
            <a:srgbClr val="403CCF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726704"/>
            <a:ext cx="30097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Source Format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044526"/>
            <a:ext cx="3009751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40,000 records · 20 columns · Microsoft Excel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fields: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Booking_ID, Customer_ID, Vehicle_Type, Booking_Status, Pickup/Drop Location, Ride_Distance, Booking_Value, Ratings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82554" y="1726704"/>
            <a:ext cx="4770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Query ETL Steps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82554" y="2044526"/>
            <a:ext cx="4770016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dataset into Power BI via Power Query connector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Validated and corrected data types for all 20 columns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column headers for consistent referencing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Reviewed, flagged, and resolved missing values and duplicate records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3201144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9" name="Text 7"/>
          <p:cNvSpPr/>
          <p:nvPr/>
        </p:nvSpPr>
        <p:spPr>
          <a:xfrm>
            <a:off x="620092" y="3325118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Outcome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0092" y="3593381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Clean, structured dataset with consistent formats — a reliable foundation for SQL querying and dashboard visualization.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33987" y="3201144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7961" y="3325118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Skill Demonstrated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7961" y="3593381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ETL pipeline design using Power Query, ensuring data quality is enforced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analysis begins.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864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Analysis: Business Questions Answered with Queries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2127"/>
            <a:ext cx="4148063" cy="2117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087960"/>
            <a:ext cx="396240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Setup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96119" y="3303017"/>
            <a:ext cx="3962400" cy="390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 dedicated MySQL database, imported the cleaned dataset, and structured it for relational querying. Core aggregation functions used: 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AVG()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applied with 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clauses for filtering and segmentation.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96119" y="3763417"/>
            <a:ext cx="396240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Queries Built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96119" y="3978473"/>
            <a:ext cx="3962400" cy="748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Retrieve all successful bookings</a:t>
            </a:r>
            <a:endParaRPr lang="en-US" sz="700" dirty="0"/>
          </a:p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ride distance per vehicle type</a:t>
            </a:r>
            <a:endParaRPr lang="en-US" sz="700" dirty="0"/>
          </a:p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customer-cancelled rides</a:t>
            </a:r>
            <a:endParaRPr lang="en-US" sz="700" dirty="0"/>
          </a:p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5 customers by booking volume</a:t>
            </a:r>
            <a:endParaRPr lang="en-US" sz="700" dirty="0"/>
          </a:p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breakdown by vehicle category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690244" y="3087960"/>
            <a:ext cx="396240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Reusable SQL Views Created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90244" y="3303017"/>
            <a:ext cx="3962400" cy="439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ride_distance_for_each_vehicle</a:t>
            </a:r>
            <a:endParaRPr lang="en-US" sz="700" dirty="0"/>
          </a:p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Top_5_Customers</a:t>
            </a:r>
            <a:endParaRPr lang="en-US" sz="700" dirty="0"/>
          </a:p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cancelled_rides_by_customers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690244" y="3812232"/>
            <a:ext cx="396240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90244" y="4027289"/>
            <a:ext cx="3962400" cy="390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SQL layer enabled scalable, repeatable analysis. All query results served as the direct data foundation for Power BI visualizations — ensuring every dashboard figure is traceable to a specific query.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Executive Dashboard: July 2024 KPI Snapshot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96950"/>
            <a:ext cx="2661717" cy="14117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74441"/>
            <a:ext cx="4056534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40,539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96119" y="2333327"/>
            <a:ext cx="405653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Bookings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96119" y="2448818"/>
            <a:ext cx="405653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July 1–30, 2024</a:t>
            </a:r>
            <a:endParaRPr lang="en-US" sz="450" dirty="0"/>
          </a:p>
        </p:txBody>
      </p:sp>
      <p:sp>
        <p:nvSpPr>
          <p:cNvPr id="7" name="Text 4"/>
          <p:cNvSpPr/>
          <p:nvPr/>
        </p:nvSpPr>
        <p:spPr>
          <a:xfrm>
            <a:off x="4591348" y="2074441"/>
            <a:ext cx="4056534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₹22M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91348" y="2333327"/>
            <a:ext cx="405653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Booking Value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591348" y="2448818"/>
            <a:ext cx="405653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Gross revenue across all booking statuses</a:t>
            </a:r>
            <a:endParaRPr lang="en-US" sz="450" dirty="0"/>
          </a:p>
        </p:txBody>
      </p:sp>
      <p:sp>
        <p:nvSpPr>
          <p:cNvPr id="10" name="Text 7"/>
          <p:cNvSpPr/>
          <p:nvPr/>
        </p:nvSpPr>
        <p:spPr>
          <a:xfrm>
            <a:off x="496119" y="2616101"/>
            <a:ext cx="4056534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82.18%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6119" y="2874987"/>
            <a:ext cx="405653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Success Rate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96119" y="2990478"/>
            <a:ext cx="405653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25,216 completed rides</a:t>
            </a:r>
            <a:endParaRPr lang="en-US" sz="450" dirty="0"/>
          </a:p>
        </p:txBody>
      </p:sp>
      <p:sp>
        <p:nvSpPr>
          <p:cNvPr id="13" name="Text 10"/>
          <p:cNvSpPr/>
          <p:nvPr/>
        </p:nvSpPr>
        <p:spPr>
          <a:xfrm>
            <a:off x="4591348" y="2616101"/>
            <a:ext cx="4056534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26.6%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91348" y="2874987"/>
            <a:ext cx="405653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Cancellation Rate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4591348" y="2990478"/>
            <a:ext cx="405653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Combined customer + driver cancellations</a:t>
            </a:r>
            <a:endParaRPr lang="en-US" sz="4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3134469"/>
            <a:ext cx="4415358" cy="303028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67449" y="3130600"/>
            <a:ext cx="3585121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Ride Volume Trend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5067449" y="3258443"/>
            <a:ext cx="3585121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 bookings ranged between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~1,277 and 1,417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the month. Peak days observed on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Jul 7 (1,416)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Jul 14 (1,417)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suggesting a recurring weekly demand cycle worth investigating for fleet pre-positioning.</a:t>
            </a:r>
            <a:endParaRPr lang="en-US" sz="450" dirty="0"/>
          </a:p>
        </p:txBody>
      </p:sp>
      <p:sp>
        <p:nvSpPr>
          <p:cNvPr id="19" name="Text 15"/>
          <p:cNvSpPr/>
          <p:nvPr/>
        </p:nvSpPr>
        <p:spPr>
          <a:xfrm>
            <a:off x="5067449" y="3438079"/>
            <a:ext cx="3585121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Design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5067449" y="3565922"/>
            <a:ext cx="3585121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Donut chart for booking status distribution combined with a line chart for daily ride volume — enables at-a-glance operational monitoring without information overload.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506"/>
            <a:ext cx="8151763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Vehicle Performance: Revenue &amp; Distance by Category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63637"/>
            <a:ext cx="3978622" cy="16992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2522934"/>
            <a:ext cx="8151763" cy="1493639"/>
          </a:xfrm>
          <a:prstGeom prst="roundRect">
            <a:avLst>
              <a:gd name="adj" fmla="val 81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96119" y="2711425"/>
            <a:ext cx="815176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2897535"/>
            <a:ext cx="815176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96119" y="3083644"/>
            <a:ext cx="815176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96119" y="3269754"/>
            <a:ext cx="815176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96119" y="3455863"/>
            <a:ext cx="815176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96119" y="3641973"/>
            <a:ext cx="815176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96119" y="3828083"/>
            <a:ext cx="815176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01104" y="2527697"/>
            <a:ext cx="1791221" cy="183728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13" name="Text 10"/>
          <p:cNvSpPr/>
          <p:nvPr/>
        </p:nvSpPr>
        <p:spPr>
          <a:xfrm>
            <a:off x="582439" y="2564457"/>
            <a:ext cx="208575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Vehicle Type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2292325" y="2527697"/>
            <a:ext cx="1465585" cy="183728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15" name="Text 12"/>
          <p:cNvSpPr/>
          <p:nvPr/>
        </p:nvSpPr>
        <p:spPr>
          <a:xfrm>
            <a:off x="2373660" y="2564457"/>
            <a:ext cx="1760116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Total Booking Value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3757910" y="2527697"/>
            <a:ext cx="1628403" cy="183728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17" name="Text 14"/>
          <p:cNvSpPr/>
          <p:nvPr/>
        </p:nvSpPr>
        <p:spPr>
          <a:xfrm>
            <a:off x="3839245" y="2564457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Success Booking Value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5386313" y="2527697"/>
            <a:ext cx="1628403" cy="183728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19" name="Text 16"/>
          <p:cNvSpPr/>
          <p:nvPr/>
        </p:nvSpPr>
        <p:spPr>
          <a:xfrm>
            <a:off x="5467648" y="2564457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Avg. Distance (km)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7014716" y="2527697"/>
            <a:ext cx="1628403" cy="183728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21" name="Text 18"/>
          <p:cNvSpPr/>
          <p:nvPr/>
        </p:nvSpPr>
        <p:spPr>
          <a:xfrm>
            <a:off x="7096051" y="2564457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Total Distance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82439" y="2750567"/>
            <a:ext cx="208575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Prime Sedan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2373660" y="2750567"/>
            <a:ext cx="1760116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₹3.28M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3839245" y="2750567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₹2.05M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5467648" y="2750567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15.66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7096051" y="2750567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91K km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82439" y="2936677"/>
            <a:ext cx="208575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Prime SUV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2373660" y="2936677"/>
            <a:ext cx="1760116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₹3.17M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3839245" y="2936677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₹1.95M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467648" y="2936677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15.30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7096051" y="2936677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90K km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582439" y="3122786"/>
            <a:ext cx="208575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Prime Plus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2373660" y="3122786"/>
            <a:ext cx="1760116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₹3.11M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3839245" y="3122786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₹1.91M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5467648" y="3122786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15.22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7096051" y="3122786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86K km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582439" y="3308896"/>
            <a:ext cx="208575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2373660" y="3308896"/>
            <a:ext cx="1760116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₹3.08M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3839245" y="3308896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₹1.91M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5467648" y="3308896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15.50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7096051" y="3308896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87K km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582439" y="3495005"/>
            <a:ext cx="208575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2373660" y="3495005"/>
            <a:ext cx="1760116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₹3.13M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3839245" y="3495005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₹1.97M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5467648" y="3495005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6.21</a:t>
            </a:r>
            <a:endParaRPr lang="en-US" sz="600" dirty="0"/>
          </a:p>
        </p:txBody>
      </p:sp>
      <p:sp>
        <p:nvSpPr>
          <p:cNvPr id="46" name="Text 43"/>
          <p:cNvSpPr/>
          <p:nvPr/>
        </p:nvSpPr>
        <p:spPr>
          <a:xfrm>
            <a:off x="7096051" y="3495005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36K km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582439" y="3681115"/>
            <a:ext cx="208575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Bike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2373660" y="3681115"/>
            <a:ext cx="1760116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₹3.20M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3839245" y="3681115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₹2.00M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5467648" y="3681115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15.88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7096051" y="3681115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93K km</a:t>
            </a:r>
            <a:endParaRPr lang="en-US" sz="600" dirty="0"/>
          </a:p>
        </p:txBody>
      </p:sp>
      <p:sp>
        <p:nvSpPr>
          <p:cNvPr id="52" name="Text 49"/>
          <p:cNvSpPr/>
          <p:nvPr/>
        </p:nvSpPr>
        <p:spPr>
          <a:xfrm>
            <a:off x="582439" y="3867224"/>
            <a:ext cx="208575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E-bike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2373660" y="3867224"/>
            <a:ext cx="1760116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₹3.21M</a:t>
            </a:r>
            <a:endParaRPr lang="en-US" sz="600" dirty="0"/>
          </a:p>
        </p:txBody>
      </p:sp>
      <p:sp>
        <p:nvSpPr>
          <p:cNvPr id="54" name="Text 51"/>
          <p:cNvSpPr/>
          <p:nvPr/>
        </p:nvSpPr>
        <p:spPr>
          <a:xfrm>
            <a:off x="3839245" y="3867224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₹1.97M</a:t>
            </a:r>
            <a:endParaRPr lang="en-US" sz="600" dirty="0"/>
          </a:p>
        </p:txBody>
      </p:sp>
      <p:sp>
        <p:nvSpPr>
          <p:cNvPr id="55" name="Text 52"/>
          <p:cNvSpPr/>
          <p:nvPr/>
        </p:nvSpPr>
        <p:spPr>
          <a:xfrm>
            <a:off x="5467648" y="3867224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15.74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7096051" y="3867224"/>
            <a:ext cx="192293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93K km</a:t>
            </a:r>
            <a:endParaRPr lang="en-US" sz="600" dirty="0"/>
          </a:p>
        </p:txBody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076626"/>
            <a:ext cx="2681660" cy="664294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625078" y="4167485"/>
            <a:ext cx="2461840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Revenue Generator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625078" y="4326582"/>
            <a:ext cx="2461840" cy="215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Prime Sedan</a:t>
            </a:r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leads with ₹3.28M total booking value and ₹2.05M in successful bookings — the highest conversion of any category.</a:t>
            </a:r>
            <a:endParaRPr lang="en-US" sz="600" dirty="0"/>
          </a:p>
        </p:txBody>
      </p:sp>
      <p:pic>
        <p:nvPicPr>
          <p:cNvPr id="6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1133" y="4076626"/>
            <a:ext cx="2681660" cy="664294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3360093" y="4167485"/>
            <a:ext cx="2461840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Highest Distance Per Ride</a:t>
            </a:r>
            <a:endParaRPr lang="en-US" sz="800" dirty="0"/>
          </a:p>
        </p:txBody>
      </p:sp>
      <p:sp>
        <p:nvSpPr>
          <p:cNvPr id="62" name="Text 57"/>
          <p:cNvSpPr/>
          <p:nvPr/>
        </p:nvSpPr>
        <p:spPr>
          <a:xfrm>
            <a:off x="3360093" y="4326582"/>
            <a:ext cx="2461840" cy="3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Bike (15.88 km)</a:t>
            </a:r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E-bike (15.74 km)</a:t>
            </a:r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log the longest average trips, each generating ~₹3.20–3.21M total value despite lower per-km fares.</a:t>
            </a:r>
            <a:endParaRPr lang="en-US" sz="600" dirty="0"/>
          </a:p>
        </p:txBody>
      </p:sp>
      <p:pic>
        <p:nvPicPr>
          <p:cNvPr id="6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6147" y="4076626"/>
            <a:ext cx="2681660" cy="664294"/>
          </a:xfrm>
          <a:prstGeom prst="rect">
            <a:avLst/>
          </a:prstGeom>
        </p:spPr>
      </p:pic>
      <p:sp>
        <p:nvSpPr>
          <p:cNvPr id="64" name="Text 58"/>
          <p:cNvSpPr/>
          <p:nvPr/>
        </p:nvSpPr>
        <p:spPr>
          <a:xfrm>
            <a:off x="6095107" y="4167485"/>
            <a:ext cx="2461840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 Category Outlier</a:t>
            </a:r>
            <a:endParaRPr lang="en-US" sz="800" dirty="0"/>
          </a:p>
        </p:txBody>
      </p:sp>
      <p:sp>
        <p:nvSpPr>
          <p:cNvPr id="65" name="Text 59"/>
          <p:cNvSpPr/>
          <p:nvPr/>
        </p:nvSpPr>
        <p:spPr>
          <a:xfrm>
            <a:off x="6095107" y="4326582"/>
            <a:ext cx="2461840" cy="3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Auto averages just 6.21 km</a:t>
            </a:r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less than half any other category — reflecting a distinct urban micro-trip use case rather than longer commutes.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6592"/>
            <a:ext cx="8151763" cy="2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Cancellation Deep-Dive: 26.6% of Bookings Lost</a:t>
            </a:r>
            <a:endParaRPr lang="en-US" sz="1450" dirty="0"/>
          </a:p>
        </p:txBody>
      </p:sp>
      <p:sp>
        <p:nvSpPr>
          <p:cNvPr id="3" name="Shape 1"/>
          <p:cNvSpPr/>
          <p:nvPr/>
        </p:nvSpPr>
        <p:spPr>
          <a:xfrm>
            <a:off x="496119" y="736774"/>
            <a:ext cx="8151763" cy="222498"/>
          </a:xfrm>
          <a:prstGeom prst="roundRect">
            <a:avLst>
              <a:gd name="adj" fmla="val 5096"/>
            </a:avLst>
          </a:prstGeom>
          <a:solidFill>
            <a:srgbClr val="FFB3B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649" y="831652"/>
            <a:ext cx="94431" cy="755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1611" y="801663"/>
            <a:ext cx="8287941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Key Finding:</a:t>
            </a:r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~26% of bookings categorized as "customer cancellations" are actually </a:t>
            </a:r>
            <a:pPr algn="l" indent="0" marL="0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driver-induced</a:t>
            </a:r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 driver explicitly asked the customer to cancel. This is a service quality failure, not a demand problem.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96119" y="1057126"/>
            <a:ext cx="3983682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Cancellation Reasons</a:t>
            </a:r>
            <a:endParaRPr lang="en-US" sz="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227013"/>
            <a:ext cx="3983682" cy="28674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8962" y="1057126"/>
            <a:ext cx="3983682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Driver Cancellation Reasons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962" y="1227013"/>
            <a:ext cx="3983682" cy="286747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96119" y="4198069"/>
            <a:ext cx="2686496" cy="588764"/>
          </a:xfrm>
          <a:prstGeom prst="roundRect">
            <a:avLst>
              <a:gd name="adj" fmla="val 1926"/>
            </a:avLst>
          </a:prstGeom>
          <a:solidFill>
            <a:srgbClr val="EAE8F3"/>
          </a:solidFill>
          <a:ln/>
        </p:spPr>
      </p:sp>
      <p:sp>
        <p:nvSpPr>
          <p:cNvPr id="11" name="Text 6"/>
          <p:cNvSpPr/>
          <p:nvPr/>
        </p:nvSpPr>
        <p:spPr>
          <a:xfrm>
            <a:off x="571649" y="4273600"/>
            <a:ext cx="2535436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Scale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571649" y="4419302"/>
            <a:ext cx="253543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15,332</a:t>
            </a:r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cancelled bookings out of 40,539 total — a </a:t>
            </a:r>
            <a:pPr algn="l" indent="0" marL="0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26.6%</a:t>
            </a:r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cancellation rate representing material revenue leakage at ₹22M baseline.</a:t>
            </a:r>
            <a:endParaRPr lang="en-US" sz="550" dirty="0"/>
          </a:p>
        </p:txBody>
      </p:sp>
      <p:sp>
        <p:nvSpPr>
          <p:cNvPr id="13" name="Shape 8"/>
          <p:cNvSpPr/>
          <p:nvPr/>
        </p:nvSpPr>
        <p:spPr>
          <a:xfrm>
            <a:off x="3228677" y="4198069"/>
            <a:ext cx="2686571" cy="588764"/>
          </a:xfrm>
          <a:prstGeom prst="roundRect">
            <a:avLst>
              <a:gd name="adj" fmla="val 1926"/>
            </a:avLst>
          </a:prstGeom>
          <a:solidFill>
            <a:srgbClr val="EAE8F3"/>
          </a:solidFill>
          <a:ln/>
        </p:spPr>
      </p:sp>
      <p:sp>
        <p:nvSpPr>
          <p:cNvPr id="14" name="Text 9"/>
          <p:cNvSpPr/>
          <p:nvPr/>
        </p:nvSpPr>
        <p:spPr>
          <a:xfrm>
            <a:off x="3304208" y="4273600"/>
            <a:ext cx="2535510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Driver-Induced Signal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3304208" y="4419302"/>
            <a:ext cx="2535510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single largest customer cancellation reason is </a:t>
            </a:r>
            <a:pPr algn="l" indent="0" marL="0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"Driver asked to cancel" at 25.94%</a:t>
            </a:r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surfacing a systemic driver behavior issue misclassified as customer churn.</a:t>
            </a:r>
            <a:endParaRPr lang="en-US" sz="550" dirty="0"/>
          </a:p>
        </p:txBody>
      </p:sp>
      <p:sp>
        <p:nvSpPr>
          <p:cNvPr id="16" name="Shape 11"/>
          <p:cNvSpPr/>
          <p:nvPr/>
        </p:nvSpPr>
        <p:spPr>
          <a:xfrm>
            <a:off x="5961311" y="4198069"/>
            <a:ext cx="2686571" cy="588764"/>
          </a:xfrm>
          <a:prstGeom prst="roundRect">
            <a:avLst>
              <a:gd name="adj" fmla="val 1926"/>
            </a:avLst>
          </a:prstGeom>
          <a:solidFill>
            <a:srgbClr val="EAE8F3"/>
          </a:solidFill>
          <a:ln/>
        </p:spPr>
      </p:sp>
      <p:sp>
        <p:nvSpPr>
          <p:cNvPr id="17" name="Text 12"/>
          <p:cNvSpPr/>
          <p:nvPr/>
        </p:nvSpPr>
        <p:spPr>
          <a:xfrm>
            <a:off x="6036841" y="4273600"/>
            <a:ext cx="2535510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Driver-Side Root Cause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6036841" y="4419302"/>
            <a:ext cx="2535510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 and car-related issues account for </a:t>
            </a:r>
            <a:pPr algn="l" indent="0" marL="0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34.86%</a:t>
            </a:r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driver cancellations — pointing to fleet maintenance and driver availability gaps.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7577"/>
            <a:ext cx="8151763" cy="678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Recommendations: Reducing Cancellations &amp; Maximizing Revenue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823" y="1249152"/>
            <a:ext cx="162744" cy="162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8767" y="1245840"/>
            <a:ext cx="779911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Address Driver-Induced Cancellations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48767" y="1472282"/>
            <a:ext cx="779911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26% of "customer" cancellations are driver-prompted. Implement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driver accountability scoring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real-time GPS tracking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enforce pickup compliance and reduce misclassified churn.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823" y="1991134"/>
            <a:ext cx="162744" cy="162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8767" y="1987823"/>
            <a:ext cx="779911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Optimize Fleet Allocation for Peak Demand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48767" y="2214265"/>
            <a:ext cx="779911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more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Prime Sedan and Bike/E-bike units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during identified peak windows (Jul 7 &amp; 14 patterns) to capture demand spikes without service degradation or elevated cancellation rates.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6823" y="2733117"/>
            <a:ext cx="162744" cy="162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8767" y="2729805"/>
            <a:ext cx="779911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 Category Urban Strategy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848767" y="2956247"/>
            <a:ext cx="779911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Auto's short average distance (6.21 km) signals high-frequency urban micro-trip demand. Price competitively and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increase Auto availability in dense city zones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maximize throughput per driver hour.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6823" y="3475100"/>
            <a:ext cx="162744" cy="162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8767" y="3471788"/>
            <a:ext cx="779911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Establish Weekly KPI Monitoring Cadence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848767" y="3698230"/>
            <a:ext cx="779911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Weekly dashboard reviews tracking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cancellation rate, success rate, and revenue per vehicle type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enable proactive operational decisions before problems compound.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6823" y="4217082"/>
            <a:ext cx="162744" cy="162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8767" y="4213771"/>
            <a:ext cx="779911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Scope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848767" y="4440213"/>
            <a:ext cx="779911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real-time data feeds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build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predictive demand models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peak forecasting, add </a:t>
            </a:r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geographic heatmaps</a:t>
            </a:r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high-demand zones, and automate scheduled reporting pipelines.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864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Skills Demonstrated &amp; Project Outcomes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911423"/>
            <a:ext cx="395294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Technical Skills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161008"/>
            <a:ext cx="1935510" cy="879053"/>
          </a:xfrm>
          <a:prstGeom prst="roundRect">
            <a:avLst>
              <a:gd name="adj" fmla="val 1720"/>
            </a:avLst>
          </a:prstGeom>
          <a:solidFill>
            <a:srgbClr val="EAE8F3"/>
          </a:solidFill>
          <a:ln/>
        </p:spPr>
      </p:sp>
      <p:sp>
        <p:nvSpPr>
          <p:cNvPr id="5" name="Text 3"/>
          <p:cNvSpPr/>
          <p:nvPr/>
        </p:nvSpPr>
        <p:spPr>
          <a:xfrm>
            <a:off x="596875" y="1261765"/>
            <a:ext cx="173399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Engineering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6875" y="1501080"/>
            <a:ext cx="1733996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Excel, Power Query, ETL pipeline design, data cleaning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13484" y="1161008"/>
            <a:ext cx="1935584" cy="879053"/>
          </a:xfrm>
          <a:prstGeom prst="roundRect">
            <a:avLst>
              <a:gd name="adj" fmla="val 1720"/>
            </a:avLst>
          </a:prstGeom>
          <a:solidFill>
            <a:srgbClr val="EAE8F3"/>
          </a:solidFill>
          <a:ln/>
        </p:spPr>
      </p:sp>
      <p:sp>
        <p:nvSpPr>
          <p:cNvPr id="8" name="Text 6"/>
          <p:cNvSpPr/>
          <p:nvPr/>
        </p:nvSpPr>
        <p:spPr>
          <a:xfrm>
            <a:off x="2614240" y="1261765"/>
            <a:ext cx="173407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/ Database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14240" y="1501080"/>
            <a:ext cx="1734071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MySQL, aggregation queries, reusable views, relational schema design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6119" y="2121917"/>
            <a:ext cx="3952949" cy="586904"/>
          </a:xfrm>
          <a:prstGeom prst="roundRect">
            <a:avLst>
              <a:gd name="adj" fmla="val 2576"/>
            </a:avLst>
          </a:prstGeom>
          <a:solidFill>
            <a:srgbClr val="EAE8F3"/>
          </a:solidFill>
          <a:ln/>
        </p:spPr>
      </p:sp>
      <p:sp>
        <p:nvSpPr>
          <p:cNvPr id="11" name="Text 9"/>
          <p:cNvSpPr/>
          <p:nvPr/>
        </p:nvSpPr>
        <p:spPr>
          <a:xfrm>
            <a:off x="596875" y="2222674"/>
            <a:ext cx="375143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BI &amp; Visualization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6875" y="2461989"/>
            <a:ext cx="3751436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BI, DAX, KPI dashboard design, multi-view report architecture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99695" y="911423"/>
            <a:ext cx="395294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Analytical Skills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99695" y="1161008"/>
            <a:ext cx="1935510" cy="761554"/>
          </a:xfrm>
          <a:prstGeom prst="roundRect">
            <a:avLst>
              <a:gd name="adj" fmla="val 1985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4739" y="1276052"/>
            <a:ext cx="170542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Storytelling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14739" y="1515368"/>
            <a:ext cx="1705421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 analysis, root-cause investigation, trend identification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717060" y="1161008"/>
            <a:ext cx="1935584" cy="761554"/>
          </a:xfrm>
          <a:prstGeom prst="roundRect">
            <a:avLst>
              <a:gd name="adj" fmla="val 1985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2104" y="1276052"/>
            <a:ext cx="170549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Operational Analysis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32104" y="1515368"/>
            <a:ext cx="1705496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Cancellation root-cause analysis, vehicle performance benchmarking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99695" y="2004417"/>
            <a:ext cx="3952949" cy="615479"/>
          </a:xfrm>
          <a:prstGeom prst="roundRect">
            <a:avLst>
              <a:gd name="adj" fmla="val 2456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4739" y="2119461"/>
            <a:ext cx="372286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Insight Communication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14739" y="2358777"/>
            <a:ext cx="3722861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Actionable recommendation framing, stakeholder-ready reporting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6119" y="2943448"/>
            <a:ext cx="4024685" cy="332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₹22M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96119" y="3387849"/>
            <a:ext cx="402468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Base Identified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6119" y="3594422"/>
            <a:ext cx="402468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Gross booking value mapped across 7 vehicle categories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23122" y="2943448"/>
            <a:ext cx="4024759" cy="332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26.6%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623122" y="3387849"/>
            <a:ext cx="402475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Cancellation Leakage Pinpointed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23122" y="3594422"/>
            <a:ext cx="4024759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15,332 lost bookings with root causes segmented by type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6119" y="3954587"/>
            <a:ext cx="4024685" cy="332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96119" y="4398987"/>
            <a:ext cx="402468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Views Delivered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6119" y="4605561"/>
            <a:ext cx="402468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· Vehicle · Revenue · Cancellation · Ratings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23122" y="3954587"/>
            <a:ext cx="4024759" cy="332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26%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623122" y="4398987"/>
            <a:ext cx="402475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Driver-Behavior Signal Surfaced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23122" y="4605561"/>
            <a:ext cx="4024759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Non-obvious finding: driver-induced cancellations misclassified as customer churn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2026-07-21T11:41:10Z</dcterms:created>
  <dcterms:modified xsi:type="dcterms:W3CDTF">2026-07-21T11:41:10Z</dcterms:modified>
</cp:coreProperties>
</file>